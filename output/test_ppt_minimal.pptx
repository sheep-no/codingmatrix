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33333"/>
                </a:solidFill>
              </a:defRPr>
            </a:pPr>
            <a:r>
              <a:t>校园安全教育</a:t>
            </a:r>
          </a:p>
        </p:txBody>
        <p:timing>
          <p:tn id="main_seq">
            <p:seq id="seq_f39508ba" presetClass="entrance" presetID="1">
              <p:cond delay="0" evt="begin"/>
              <p:ctn id="seq_f39508ba_child">
                <p:animate id="anim_2" calcmode="linear" fill="hold">
                  <p:by r:val="1"/>
                  <p:tgtEl>
                    <p:spTgt spid="2"/>
                  </p:tgtEl>
                </p:animate>
              </p:ctn>
            </p:seq>
          </p:tn>
        </p:timing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构建安全校园环境</a:t>
            </a:r>
          </a:p>
        </p:txBody>
        <p:timing>
          <p:tn id="main_seq">
            <p:seq id="seq_cf19215d" presetClass="entrance" presetID="1">
              <p:cond delay="300" evt="begin"/>
              <p:ctn id="seq_cf19215d_child">
                <p:animate id="anim_3" calcmode="linear" fill="hold">
                  <p:by r:val="1"/>
                  <p:tgtEl>
                    <p:spTgt spid="3"/>
                  </p:tgtEl>
                </p:animate>
              </p:ctn>
            </p:seq>
          </p:tn>
        </p:timing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1 / 7</a:t>
            </a:r>
          </a:p>
        </p:txBody>
        <p:timing>
          <p:tn id="main_seq">
            <p:seq id="seq_b145b60d" presetClass="entrance" presetID="1">
              <p:cond delay="600" evt="begin"/>
              <p:ctn id="seq_b145b60d_child">
                <p:animate id="anim_4" calcmode="linear" fill="hold">
                  <p:by r:val="1"/>
                  <p:tgtEl>
                    <p:spTgt spid="4"/>
                  </p:tgtEl>
                </p:animate>
              </p:ctn>
            </p:seq>
          </p:tn>
        </p:timing>
      </p:sp>
    </p:spTree>
  </p:cSld>
  <p:clrMapOvr>
    <a:masterClrMapping/>
  </p:clrMapOvr>
  <p:transition advClick="1" spd="slow">
    <p:wipe advTm="1200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905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</a:defRPr>
            </a:pPr>
            <a:r>
              <a:t>第一章 校园安全概述</a:t>
            </a:r>
          </a:p>
        </p:txBody>
        <p:timing>
          <p:tn id="main_seq">
            <p:seq id="seq_16e1b9a7" presetClass="entrance" presetID="1">
              <p:cond delay="0" evt="begin"/>
              <p:ctn id="seq_16e1b9a7_child">
                <p:animate id="anim_4" calcmode="linear" fill="hold">
                  <p:by r:val="1"/>
                  <p:tgtEl>
                    <p:spTgt spid="4"/>
                  </p:tgtEl>
                </p:animate>
              </p:ctn>
            </p:seq>
          </p:tn>
        </p:timing>
      </p:sp>
      <p:sp>
        <p:nvSpPr>
          <p:cNvPr id="5" name="TextBox 4"/>
          <p:cNvSpPr txBox="1"/>
          <p:nvPr/>
        </p:nvSpPr>
        <p:spPr>
          <a:xfrm>
            <a:off x="1371600" y="4114800"/>
            <a:ext cx="9905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2C3E50"/>
                </a:solidFill>
              </a:defRPr>
            </a:pPr>
            <a:r>
              <a:t>了解校园安全的重要性</a:t>
            </a:r>
          </a:p>
        </p:txBody>
        <p:timing>
          <p:tn id="main_seq">
            <p:seq id="seq_f1dfd8ac" presetClass="entrance" presetID="1">
              <p:cond delay="300" evt="begin"/>
              <p:ctn id="seq_f1dfd8ac_child">
                <p:animate id="anim_5" calcmode="linear" fill="hold">
                  <p:by r:val="1"/>
                  <p:tgtEl>
                    <p:spTgt spid="5"/>
                  </p:tgtEl>
                </p:animate>
              </p:ctn>
            </p:seq>
          </p:tn>
        </p:timing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2 / 7</a:t>
            </a:r>
          </a:p>
        </p:txBody>
        <p:timing>
          <p:tn id="main_seq">
            <p:seq id="seq_53715779" presetClass="entrance" presetID="1">
              <p:cond delay="600" evt="begin"/>
              <p:ctn id="seq_53715779_child">
                <p:animate id="anim_6" calcmode="linear" fill="hold">
                  <p:by r:val="1"/>
                  <p:tgtEl>
                    <p:spTgt spid="6"/>
                  </p:tgtEl>
                </p:animate>
              </p:ctn>
            </p:seq>
          </p:tn>
        </p:timing>
      </p:sp>
    </p:spTree>
  </p:cSld>
  <p:clrMapOvr>
    <a:masterClrMapping/>
  </p:clrMapOvr>
  <p:transition advClick="1" spd="slow">
    <p:wipe advTm="1200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校园安全要点</a:t>
            </a:r>
          </a:p>
        </p:txBody>
        <p:timing>
          <p:tn id="main_seq">
            <p:seq id="seq_eb784dd8" presetClass="entrance" presetID="1">
              <p:cond delay="0" evt="begin"/>
              <p:ctn id="seq_eb784dd8_child">
                <p:animate id="anim_4" calcmode="linear" fill="hold">
                  <p:by r:val="1"/>
                  <p:tgtEl>
                    <p:spTgt spid="4"/>
                  </p:tgtEl>
                </p:animate>
              </p:ctn>
            </p:seq>
          </p:tn>
        </p:timing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交通安全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食品安全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消防安全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网络安全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心理安全</a:t>
            </a:r>
          </a:p>
        </p:txBody>
        <p:timing>
          <p:tn id="main_seq">
            <p:seq id="seq_5706a6ab" presetClass="entrance" presetID="1">
              <p:cond delay="300" evt="begin"/>
              <p:ctn id="seq_5706a6ab_child">
                <p:animate id="anim_5" calcmode="linear" fill="hold">
                  <p:by r:val="1"/>
                  <p:tgtEl>
                    <p:spTgt spid="5"/>
                  </p:tgtEl>
                </p:animate>
              </p:ctn>
            </p:seq>
          </p:tn>
        </p:timing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3 / 7</a:t>
            </a:r>
          </a:p>
        </p:txBody>
        <p:timing>
          <p:tn id="main_seq">
            <p:seq id="seq_5d61fc0c" presetClass="entrance" presetID="1">
              <p:cond delay="600" evt="begin"/>
              <p:ctn id="seq_5d61fc0c_child">
                <p:animate id="anim_6" calcmode="linear" fill="hold">
                  <p:by r:val="1"/>
                  <p:tgtEl>
                    <p:spTgt spid="6"/>
                  </p:tgtEl>
                </p:animate>
              </p:ctn>
            </p:seq>
          </p:tn>
        </p:timing>
      </p:sp>
    </p:spTree>
  </p:cSld>
  <p:clrMapOvr>
    <a:masterClrMapping/>
  </p:clrMapOvr>
  <p:transition advClick="1" spd="slow">
    <p:wipe advTm="1200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安全教育措施</a:t>
            </a:r>
          </a:p>
        </p:txBody>
        <p:timing>
          <p:tn id="main_seq">
            <p:seq id="seq_2534c741" presetClass="entrance" presetID="1">
              <p:cond delay="0" evt="begin"/>
              <p:ctn id="seq_2534c741_child">
                <p:animate id="anim_4" calcmode="linear" fill="hold">
                  <p:by r:val="1"/>
                  <p:tgtEl>
                    <p:spTgt spid="4"/>
                  </p:tgtEl>
                </p:animate>
              </p:ctn>
            </p:seq>
          </p:tn>
        </p:timing>
      </p:sp>
      <p:sp>
        <p:nvSpPr>
          <p:cNvPr id="5" name="TextBox 4"/>
          <p:cNvSpPr txBox="1"/>
          <p:nvPr/>
        </p:nvSpPr>
        <p:spPr>
          <a:xfrm>
            <a:off x="457200" y="1188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定期开展安全演练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建立安全管理制度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加强安全知识培训</a:t>
            </a:r>
          </a:p>
        </p:txBody>
        <p:timing>
          <p:tn id="main_seq">
            <p:seq id="seq_ef735f5b" presetClass="entrance" presetID="1">
              <p:cond delay="300" evt="begin"/>
              <p:ctn id="seq_ef735f5b_child">
                <p:animate id="anim_5" calcmode="linear" fill="hold">
                  <p:by r:val="1"/>
                  <p:tgtEl>
                    <p:spTgt spid="5"/>
                  </p:tgtEl>
                </p:animate>
              </p:ctn>
            </p:seq>
          </p:tn>
        </p:timing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4 / 7</a:t>
            </a:r>
          </a:p>
        </p:txBody>
        <p:timing>
          <p:tn id="main_seq">
            <p:seq id="seq_19c7ce3c" presetClass="entrance" presetID="1">
              <p:cond delay="600" evt="begin"/>
              <p:ctn id="seq_19c7ce3c_child">
                <p:animate id="anim_6" calcmode="linear" fill="hold">
                  <p:by r:val="1"/>
                  <p:tgtEl>
                    <p:spTgt spid="6"/>
                  </p:tgtEl>
                </p:animate>
              </p:ctn>
            </p:seq>
          </p:tn>
        </p:timing>
      </p:sp>
    </p:spTree>
  </p:cSld>
  <p:clrMapOvr>
    <a:masterClrMapping/>
  </p:clrMapOvr>
  <p:transition advClick="1" spd="slow">
    <p:wipe advTm="1200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安全教育活动</a:t>
            </a:r>
          </a:p>
        </p:txBody>
        <p:timing>
          <p:tn id="main_seq">
            <p:seq id="seq_9097fa7c" presetClass="entrance" presetID="1">
              <p:cond delay="0" evt="begin"/>
              <p:ctn id="seq_9097fa7c_child">
                <p:animate id="anim_3" calcmode="linear" fill="hold">
                  <p:by r:val="1"/>
                  <p:tgtEl>
                    <p:spTgt spid="3"/>
                  </p:tgtEl>
                </p:animate>
              </p:ctn>
            </p:seq>
          </p:tn>
        </p:timing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组织消防演练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开展急救培训</a:t>
            </a:r>
          </a:p>
        </p:txBody>
        <p:timing>
          <p:tn id="main_seq">
            <p:seq id="seq_8ba8d238" presetClass="entrance" presetID="1">
              <p:cond delay="300" evt="begin"/>
              <p:ctn id="seq_8ba8d238_child">
                <p:animate id="anim_4" calcmode="linear" fill="hold">
                  <p:by r:val="1"/>
                  <p:tgtEl>
                    <p:spTgt spid="4"/>
                  </p:tgtEl>
                </p:animate>
              </p:ctn>
            </p:seq>
          </p:tn>
        </p:timing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5 / 7</a:t>
            </a:r>
          </a:p>
        </p:txBody>
        <p:timing>
          <p:tn id="main_seq">
            <p:seq id="seq_3cc74d5d" presetClass="entrance" presetID="1">
              <p:cond delay="600" evt="begin"/>
              <p:ctn id="seq_3cc74d5d_child">
                <p:animate id="anim_6" calcmode="linear" fill="hold">
                  <p:by r:val="1"/>
                  <p:tgtEl>
                    <p:spTgt spid="6"/>
                  </p:tgtEl>
                </p:animate>
              </p:ctn>
            </p:seq>
          </p:tn>
        </p:timing>
      </p:sp>
    </p:spTree>
  </p:cSld>
  <p:clrMapOvr>
    <a:masterClrMapping/>
  </p:clrMapOvr>
  <p:transition advClick="1" spd="slow">
    <p:wipe advTm="1200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33333"/>
                </a:solidFill>
              </a:defRPr>
            </a:pPr>
            <a:r>
              <a:t>谢谢观看</a:t>
            </a:r>
          </a:p>
        </p:txBody>
        <p:timing>
          <p:tn id="main_seq">
            <p:seq id="seq_b323ff10" presetClass="entrance" presetID="1">
              <p:cond delay="0" evt="begin"/>
              <p:ctn id="seq_b323ff10_child">
                <p:animate id="anim_2" calcmode="linear" fill="hold">
                  <p:by r:val="1"/>
                  <p:tgtEl>
                    <p:spTgt spid="2"/>
                  </p:tgtEl>
                </p:animate>
              </p:ctn>
            </p:seq>
          </p:tn>
        </p:timing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C3E50"/>
                </a:solidFill>
              </a:defRPr>
            </a:pPr>
            <a:r>
              <a:t>安全第一，预防为主</a:t>
            </a:r>
          </a:p>
        </p:txBody>
        <p:timing>
          <p:tn id="main_seq">
            <p:seq id="seq_68bbd9de" presetClass="entrance" presetID="1">
              <p:cond delay="300" evt="begin"/>
              <p:ctn id="seq_68bbd9de_child">
                <p:animate id="anim_3" calcmode="linear" fill="hold">
                  <p:by r:val="1"/>
                  <p:tgtEl>
                    <p:spTgt spid="3"/>
                  </p:tgtEl>
                </p:animate>
              </p:ctn>
            </p:seq>
          </p:tn>
        </p:timing>
      </p:sp>
      <p:sp>
        <p:nvSpPr>
          <p:cNvPr id="4" name="TextBox 3"/>
          <p:cNvSpPr txBox="1"/>
          <p:nvPr/>
        </p:nvSpPr>
        <p:spPr>
          <a:xfrm>
            <a:off x="914400" y="5029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核心要点：让我们共同守护校园安全</a:t>
            </a:r>
          </a:p>
        </p:txBody>
        <p:timing>
          <p:tn id="main_seq">
            <p:seq id="seq_e8d25c94" presetClass="entrance" presetID="1">
              <p:cond delay="600" evt="begin"/>
              <p:ctn id="seq_e8d25c94_child">
                <p:animate id="anim_4" calcmode="linear" fill="hold">
                  <p:by r:val="1"/>
                  <p:tgtEl>
                    <p:spTgt spid="4"/>
                  </p:tgtEl>
                </p:animate>
              </p:ctn>
            </p:seq>
          </p:tn>
        </p:timing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6 / 7</a:t>
            </a:r>
          </a:p>
        </p:txBody>
        <p:timing>
          <p:tn id="main_seq">
            <p:seq id="seq_d7bdd46a" presetClass="entrance" presetID="1">
              <p:cond delay="899" evt="begin"/>
              <p:ctn id="seq_d7bdd46a_child">
                <p:animate id="anim_5" calcmode="linear" fill="hold">
                  <p:by r:val="1"/>
                  <p:tgtEl>
                    <p:spTgt spid="5"/>
                  </p:tgtEl>
                </p:animate>
              </p:ctn>
            </p:seq>
          </p:tn>
        </p:timing>
      </p:sp>
    </p:spTree>
  </p:cSld>
  <p:clrMapOvr>
    <a:masterClrMapping/>
  </p:clrMapOvr>
  <p:transition advClick="1" spd="slow">
    <p:wipe advTm="120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